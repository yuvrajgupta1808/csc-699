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6400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1430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16459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21488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265176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31546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0" y="36576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41605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0" y="46634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32520" y="6400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32520" y="11430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32520" y="16459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32520" y="21488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32520" y="265176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32520" y="31546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32520" y="36576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32520" y="41605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32520" y="46634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5440" y="6400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0" y="11430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0" y="16459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35440" y="21488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5440" y="265176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0" y="31546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35440" y="36576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35440" y="41605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46634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38360" y="6400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38360" y="11430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38360" y="16459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38360" y="21488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38360" y="265176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38360" y="31546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38360" y="36576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38360" y="41605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38360" y="46634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41280" y="6400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41280" y="11430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41280" y="16459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41280" y="21488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41280" y="265176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41280" y="31546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41280" y="36576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41280" y="41605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41280" y="46634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44200" y="6400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44200" y="11430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44200" y="16459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44200" y="21488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44200" y="265176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744200" y="31546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44200" y="36576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744200" y="41605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44200" y="46634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247120" y="6400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47120" y="11430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247120" y="16459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247120" y="21488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247120" y="265176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1247120" y="315468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247120" y="365760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247120" y="416052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247120" y="4663440"/>
            <a:ext cx="36576" cy="36576"/>
          </a:xfrm>
          <a:prstGeom prst="ellipse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058400" y="4389120"/>
            <a:ext cx="1645920" cy="16459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698480" y="5029200"/>
            <a:ext cx="1463040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58400" y="4389120"/>
            <a:ext cx="1645920" cy="137160"/>
          </a:xfrm>
          <a:prstGeom prst="rect">
            <a:avLst/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2920" y="1188720"/>
            <a:ext cx="109728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59E0B"/>
                </a:solidFill>
                <a:latin typeface="Consolas"/>
              </a:rPr>
              <a:t>CSC-699   ·   PRODUCTION RAG SYSTEM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" y="155448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1" i="0">
                <a:solidFill>
                  <a:srgbClr val="FFFFFF"/>
                </a:solidFill>
                <a:latin typeface="Calibri"/>
              </a:rPr>
              <a:t>JobSkill.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" y="31546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Grounded career advice from a self-correcting RAG graph.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7240" y="3794760"/>
            <a:ext cx="219456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3977639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How the system was built, what data feeds it, how it was tested,</a:t>
            </a:r>
          </a:p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and how we picked the generator that runs it.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" y="5257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603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57790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JOBS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11680" y="5394960"/>
            <a:ext cx="9144" cy="502920"/>
          </a:xfrm>
          <a:prstGeom prst="rect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40280" y="5257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99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40280" y="57790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COURSES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0" y="5394960"/>
            <a:ext cx="9144" cy="502920"/>
          </a:xfrm>
          <a:prstGeom prst="rect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03320" y="5257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3,154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03320" y="57790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CHUNKS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37760" y="5394960"/>
            <a:ext cx="9144" cy="502920"/>
          </a:xfrm>
          <a:prstGeom prst="rect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166360" y="5257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66360" y="57790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GOLD QS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0800" y="5394960"/>
            <a:ext cx="9144" cy="502920"/>
          </a:xfrm>
          <a:prstGeom prst="rect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29400" y="5257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29400" y="57790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MODELS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63840" y="5394960"/>
            <a:ext cx="9144" cy="502920"/>
          </a:xfrm>
          <a:prstGeom prst="rect">
            <a:avLst/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92440" y="5257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92440" y="57790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EVAL CALLS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Yuvraj Gupta   ·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02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400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6CD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19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0B1F3A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057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Why generic LLMs fail at grounded career advice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974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6400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80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6CD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862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0B1F3A"/>
                </a:solidFill>
                <a:latin typeface="Calibri"/>
              </a:rPr>
              <a:t>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200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Where the evidence comes from and how it is shaped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404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6400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6CD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05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0B1F3A"/>
                </a:solidFill>
                <a:latin typeface="Calibri"/>
              </a:rPr>
              <a:t>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343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Storage, retrieval, and the LangGraph control plane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834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83480"/>
            <a:ext cx="6400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66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6CD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148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0B1F3A"/>
                </a:solidFill>
                <a:latin typeface="Calibri"/>
              </a:rPr>
              <a:t>RETRIEVAL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486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Hybrid search, RRF, and three candidate 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5544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1554480"/>
            <a:ext cx="6400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1737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6CD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1719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0B1F3A"/>
                </a:solidFill>
                <a:latin typeface="Calibri"/>
              </a:rPr>
              <a:t>SELF-RAG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057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Critique-driven refinement of weak answers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26974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2697480"/>
            <a:ext cx="6400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880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6CDF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862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0B1F3A"/>
                </a:solidFill>
                <a:latin typeface="Calibri"/>
              </a:rPr>
              <a:t>EVALUATION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200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Four test layers · 30 gold questions · 7 personas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38404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3840480"/>
            <a:ext cx="6400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023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6CDF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4005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0B1F3A"/>
                </a:solidFill>
                <a:latin typeface="Calibri"/>
              </a:rPr>
              <a:t>MODEL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343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Ten generators across quality, latency, and cost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98348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4983480"/>
            <a:ext cx="6400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166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D6CDF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514807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0B1F3A"/>
                </a:solidFill>
                <a:latin typeface="Calibri"/>
              </a:rPr>
              <a:t>CONCLUSIONS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486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What shipped, what we learned, what is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Generic LLMs cannot give grounded career advice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03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45262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DC2626"/>
                </a:solidFill>
                <a:latin typeface="Consola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Alex Chen asks: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0B1F3A"/>
                </a:solidFill>
                <a:latin typeface="Calibri"/>
              </a:rPr>
              <a:t>“Am I ready for the Junior SWE role at Leidos,</a:t>
            </a:r>
          </a:p>
          <a:p>
            <a:pPr algn="l"/>
            <a:r>
              <a:rPr sz="1500" b="1" i="1">
                <a:solidFill>
                  <a:srgbClr val="0B1F3A"/>
                </a:solidFill>
                <a:latin typeface="Calibri"/>
              </a:rPr>
              <a:t>and what should I learn next?”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9312"/>
            <a:ext cx="73152" cy="73152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566160"/>
            <a:ext cx="4736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F3A"/>
                </a:solidFill>
                <a:latin typeface="Calibri"/>
              </a:rPr>
              <a:t>A vanilla LLM hallucinates titles, companies, and skill names.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023360"/>
            <a:ext cx="73152" cy="73152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50208"/>
            <a:ext cx="4736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F3A"/>
                </a:solidFill>
                <a:latin typeface="Calibri"/>
              </a:rPr>
              <a:t>It cannot cite a specific job posting in our catalog.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407408"/>
            <a:ext cx="73152" cy="73152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334256"/>
            <a:ext cx="4736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F3A"/>
                </a:solidFill>
                <a:latin typeface="Calibri"/>
              </a:rPr>
              <a:t>It cannot map a student's actual skills to a real gap.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91456"/>
            <a:ext cx="73152" cy="73152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718304"/>
            <a:ext cx="4736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F3A"/>
                </a:solidFill>
                <a:latin typeface="Calibri"/>
              </a:rPr>
              <a:t>It cannot recommend a course code the school offers.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75504"/>
            <a:ext cx="73152" cy="73152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5102352"/>
            <a:ext cx="4736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B1F3A"/>
                </a:solidFill>
                <a:latin typeface="Calibri"/>
              </a:rPr>
              <a:t>It cannot say “support is weak — let me retrieve more.”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554480"/>
            <a:ext cx="5486400" cy="4526280"/>
          </a:xfrm>
          <a:prstGeom prst="roundRect">
            <a:avLst>
              <a:gd name="adj" fmla="val 4000"/>
            </a:avLst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WHAT WE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1031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An advisor that is grounded,</a:t>
            </a:r>
          </a:p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auditable, and self-correcting.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6393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5204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Grounded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520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every claim traces to a stored job or course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096511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9776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Personalized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uses the student's actual skills + completed courses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45537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434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Multi-view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434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specific job · job cluster · course path, in parallel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50109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892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Self-correcting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critique routes weak answers back to retrieval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54681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349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Inspectable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349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every node writes to AdvisorState · LangSmith trace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1">
                <a:solidFill>
                  <a:srgbClr val="2D6CDF"/>
                </a:solidFill>
                <a:latin typeface="Calibri"/>
              </a:rPr>
              <a:t>→ Our answer: a LangGraph self-RAG pipeline with hybrid retrieval and a critique-driven refinement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System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04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109728" cy="65836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190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2D6CDF"/>
                </a:solidFill>
                <a:latin typeface="Consolas"/>
              </a:rPr>
              <a:t>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70078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71907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React + Vite + Tailwind  ·  Streamlit advisor 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3172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31720"/>
            <a:ext cx="109728" cy="658368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963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0E9F9E"/>
                </a:solidFill>
                <a:latin typeface="Consolas"/>
              </a:rPr>
              <a:t>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47802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49631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FastAPI advisor endpoint  ·  streamed turns  ·  LangSmith traces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0896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08960"/>
            <a:ext cx="109728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735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7C3AED"/>
                </a:solidFill>
                <a:latin typeface="Consolas"/>
              </a:rPr>
              <a:t>ORCHESTRATION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25526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327355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LangGraph state machine  ·  plan → retrieve → generate → critique → refine → select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886200"/>
            <a:ext cx="109728" cy="658368"/>
          </a:xfrm>
          <a:prstGeom prst="rect">
            <a:avLst/>
          </a:prstGeom>
          <a:solidFill>
            <a:srgbClr val="174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5079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74BB0"/>
                </a:solidFill>
                <a:latin typeface="Consolas"/>
              </a:rPr>
              <a:t>RETRIEVAL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03250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4050791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Weaviate hybrid search  ·  α = 0.6  ·  nomic-embed-text 768-d  ·  RRF fusion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66344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663440"/>
            <a:ext cx="109728" cy="65836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2803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6A34A"/>
                </a:solidFill>
                <a:latin typeface="Consolas"/>
              </a:rPr>
              <a:t>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480974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4828031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Supabase Postgres  (truth: jobs · courses · students)   +   Weaviate  (vectors + BM25)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4068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440680"/>
            <a:ext cx="109728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6052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59E0B"/>
                </a:solidFill>
                <a:latin typeface="Consolas"/>
              </a:rPr>
              <a:t>MODELS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5586984"/>
            <a:ext cx="10972" cy="3657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40" y="5605272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Embedder  ·  Planner (Llama 3.2 3B)  ·  Generator (Qwen 2.5 7B prod)  ·  Critic (Llama 3.2 3B)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C6B82"/>
                </a:solidFill>
                <a:latin typeface="Calibri"/>
              </a:rPr>
              <a:t>Each layer is replaceable — the LangGraph contract is what holds the system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Where the evidence comes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05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3703320" cy="914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JOB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Calibri"/>
              </a:rPr>
              <a:t>603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Real postings with title, company,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location, required skills, salary,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and description text. Average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posting yields 5.23 chunks.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2D6CDF"/>
                </a:solidFill>
                <a:latin typeface="Consolas"/>
              </a:rPr>
              <a:t>jobs.csv → Supabase → Weaviate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544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54480"/>
            <a:ext cx="3703320" cy="91440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0E9F9E"/>
                </a:solidFill>
                <a:latin typeface="Consolas"/>
              </a:rPr>
              <a:t>COURSE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57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Calibri"/>
              </a:rPr>
              <a:t>99 courses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8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University CS catalog with code,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title, department, and learning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outcomes (extracted from syllabi).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Small + clean → 1 chunk each.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31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E9F9E"/>
                </a:solidFill>
                <a:latin typeface="Consolas"/>
              </a:rPr>
              <a:t>courses_catalog.csv → Supabase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554480"/>
            <a:ext cx="37033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1554480"/>
            <a:ext cx="370332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783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C3AED"/>
                </a:solidFill>
                <a:latin typeface="Consolas"/>
              </a:rPr>
              <a:t>STUDENT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0574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B1F3A"/>
                </a:solidFill>
                <a:latin typeface="Calibri"/>
              </a:rPr>
              <a:t>7 personas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9748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Alex · Maria · Sam · Jordan ·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Marcus · Taylor · Priya.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Different majors, depths, goals,</a:t>
            </a:r>
          </a:p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used for every gold question.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931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onsolas"/>
              </a:rPr>
              <a:t>personas seeded in Supabase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434840"/>
            <a:ext cx="111556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17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WHY TWO STORES?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92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Supabase is the source of truth.   Weaviate is the retrieval index.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C6B82"/>
                </a:solidFill>
                <a:latin typeface="Calibri"/>
              </a:rPr>
              <a:t>Vector search returns candidate record IDs. Supabase then rehydrates canonical fields</a:t>
            </a:r>
          </a:p>
          <a:p>
            <a:pPr algn="l"/>
            <a:r>
              <a:rPr sz="1200" b="0" i="0">
                <a:solidFill>
                  <a:srgbClr val="5C6B82"/>
                </a:solidFill>
                <a:latin typeface="Calibri"/>
              </a:rPr>
              <a:t>(skills, salary, course code, prerequisites) so the generator only ever sees stored, exact values — no paraphrased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From CSV to a searchable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06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007" y="18288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8007" y="1828800"/>
            <a:ext cx="2011680" cy="914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1993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27889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raw data file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jobs · courses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47975" y="2670048"/>
            <a:ext cx="237744" cy="0"/>
          </a:xfrm>
          <a:prstGeom prst="line">
            <a:avLst/>
          </a:prstGeom>
          <a:ln w="19050">
            <a:solidFill>
              <a:srgbClr val="2D6CD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04007" y="18288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4007" y="1828800"/>
            <a:ext cx="2011680" cy="91440"/>
          </a:xfrm>
          <a:prstGeom prst="rect">
            <a:avLst/>
          </a:prstGeom>
          <a:solidFill>
            <a:srgbClr val="174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6887" y="1993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74BB0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6887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6887" y="27889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row inserted into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jobs / courses tables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3975" y="2670048"/>
            <a:ext cx="237744" cy="0"/>
          </a:xfrm>
          <a:prstGeom prst="line">
            <a:avLst/>
          </a:prstGeom>
          <a:ln w="19050">
            <a:solidFill>
              <a:srgbClr val="2D6CD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90007" y="18288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0007" y="1828800"/>
            <a:ext cx="2011680" cy="91440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72887" y="1993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0E9F9E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2887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Chunk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2887" y="27889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1400-char windows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200-char overlap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19975" y="2670048"/>
            <a:ext cx="237744" cy="0"/>
          </a:xfrm>
          <a:prstGeom prst="line">
            <a:avLst/>
          </a:prstGeom>
          <a:ln w="19050">
            <a:solidFill>
              <a:srgbClr val="2D6CD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76007" y="18288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6007" y="1828800"/>
            <a:ext cx="201168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8887" y="1993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C3AED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8887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Embed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8887" y="27889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nomic-embed-text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768-dim · LRU cache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05975" y="2670048"/>
            <a:ext cx="237744" cy="0"/>
          </a:xfrm>
          <a:prstGeom prst="line">
            <a:avLst/>
          </a:prstGeom>
          <a:ln w="19050">
            <a:solidFill>
              <a:srgbClr val="2D6CD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62007" y="1828800"/>
            <a:ext cx="2011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62007" y="1828800"/>
            <a:ext cx="201168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4887" y="19933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6A34A"/>
                </a:solidFill>
                <a:latin typeface="Consola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4887" y="2286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</a:rPr>
              <a:t>Weaviate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44887" y="27889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vector + BM25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hybrid α = 0.6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8007" y="411480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8007" y="4114800"/>
            <a:ext cx="54864" cy="12801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0887" y="427939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5.23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887" y="4956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AVG CHUNKS / JOB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52647" y="411480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52647" y="4114800"/>
            <a:ext cx="54864" cy="1280160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35527" y="427939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1.00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35527" y="4956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AVG CHUNKS / COURSE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7287" y="411480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7287" y="4114800"/>
            <a:ext cx="54864" cy="1280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0167" y="427939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0.60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167" y="4956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HYBRID Α  (BM25↔VEC)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21927" y="411480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21927" y="4114800"/>
            <a:ext cx="54864" cy="12801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04807" y="427939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3,154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4807" y="49560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TOTAL JOB CHUNKS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5669280"/>
            <a:ext cx="11155680" cy="548640"/>
          </a:xfrm>
          <a:prstGeom prst="roundRect">
            <a:avLst>
              <a:gd name="adj" fmla="val 4000"/>
            </a:avLst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7332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REBUILD-SAFE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6040" y="573328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Indexes can be regenerated from Supabase at any time — schema or embedding-model changes are not a one-way door.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Why we chunk and how we pool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07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200400" cy="3291840"/>
          </a:xfrm>
          <a:prstGeom prst="roundRect">
            <a:avLst>
              <a:gd name="adj" fmla="val 6000"/>
            </a:avLst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JOB POSTING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99815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83863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required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67911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salary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long description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3383280"/>
            <a:ext cx="640080" cy="0"/>
          </a:xfrm>
          <a:prstGeom prst="line">
            <a:avLst/>
          </a:prstGeom>
          <a:ln w="25400">
            <a:solidFill>
              <a:srgbClr val="2D6CD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31920" y="3063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2D6CDF"/>
                </a:solidFill>
                <a:latin typeface="Consolas"/>
              </a:rPr>
              <a:t>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828800"/>
            <a:ext cx="21945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828800"/>
            <a:ext cx="2194560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993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CHUNK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libri"/>
              </a:rPr>
              <a:t>1400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characters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9319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stored as</a:t>
            </a:r>
          </a:p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vector + BM25</a:t>
            </a:r>
          </a:p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in Weaviate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79" y="1828800"/>
            <a:ext cx="2194560" cy="3291840"/>
          </a:xfrm>
          <a:prstGeom prst="roundRect">
            <a:avLst>
              <a:gd name="adj" fmla="val 6000"/>
            </a:avLst>
          </a:prstGeom>
          <a:solidFill>
            <a:srgbClr val="E9F0FB"/>
          </a:solidFill>
          <a:ln w="1587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79" y="1828800"/>
            <a:ext cx="2194560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59" y="1993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CHUNK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libri"/>
              </a:rPr>
              <a:t>1400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characters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199" y="31089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9" y="3108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200-char overlap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39319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stored as</a:t>
            </a:r>
          </a:p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vector + BM25</a:t>
            </a:r>
          </a:p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in Weaviate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1828800"/>
            <a:ext cx="21945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8320" y="1828800"/>
            <a:ext cx="2194560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19933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CHUNK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3317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libri"/>
              </a:rPr>
              <a:t>1400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characters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93192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stored as</a:t>
            </a:r>
          </a:p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vector + BM25</a:t>
            </a:r>
          </a:p>
          <a:p>
            <a:pPr algn="l"/>
            <a:r>
              <a:rPr sz="1100" b="0" i="1">
                <a:solidFill>
                  <a:srgbClr val="5C6B82"/>
                </a:solidFill>
                <a:latin typeface="Calibri"/>
              </a:rPr>
              <a:t>in Weaviate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39496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486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AT QUERY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Max-pool retrieved chunks back to their parent job_id — one job appears at most once per result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Hybrid search with reciprocal rank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08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847" y="169164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0847" y="1691640"/>
            <a:ext cx="1783080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007" y="187452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" y="23317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intent + skill terms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73071" y="2404872"/>
            <a:ext cx="137160" cy="0"/>
          </a:xfrm>
          <a:prstGeom prst="line">
            <a:avLst/>
          </a:prstGeom>
          <a:ln w="19050">
            <a:solidFill>
              <a:srgbClr val="2D6CD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310231" y="169164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0231" y="1691640"/>
            <a:ext cx="178308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7391" y="187452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7391" y="23317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nomic 768-d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02455" y="2404872"/>
            <a:ext cx="137160" cy="0"/>
          </a:xfrm>
          <a:prstGeom prst="line">
            <a:avLst/>
          </a:prstGeom>
          <a:ln w="19050">
            <a:solidFill>
              <a:srgbClr val="7C3AE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39615" y="169164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39615" y="1691640"/>
            <a:ext cx="1783080" cy="73152"/>
          </a:xfrm>
          <a:prstGeom prst="rect">
            <a:avLst/>
          </a:prstGeom>
          <a:solidFill>
            <a:srgbClr val="174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6775" y="187452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hybrid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6775" y="23317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BM25 + vector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α = 0.6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1839" y="2404872"/>
            <a:ext cx="137160" cy="0"/>
          </a:xfrm>
          <a:prstGeom prst="line">
            <a:avLst/>
          </a:prstGeom>
          <a:ln w="19050">
            <a:solidFill>
              <a:srgbClr val="174B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68999" y="169164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1691640"/>
            <a:ext cx="1783080" cy="73152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6159" y="187452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pool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6159" y="23317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max per job_id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61223" y="2404872"/>
            <a:ext cx="137160" cy="0"/>
          </a:xfrm>
          <a:prstGeom prst="line">
            <a:avLst/>
          </a:prstGeom>
          <a:ln w="19050">
            <a:solidFill>
              <a:srgbClr val="0E9F9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98383" y="169164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8383" y="1691640"/>
            <a:ext cx="1783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5543" y="187452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RRF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543" y="23317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rank fusion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90607" y="2404872"/>
            <a:ext cx="137160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027767" y="169164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7767" y="1691640"/>
            <a:ext cx="178308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64927" y="187452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top-k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4927" y="2331720"/>
            <a:ext cx="1508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5 jobs · 5 courses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383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200">
                <a:solidFill>
                  <a:srgbClr val="5C6B82"/>
                </a:solidFill>
                <a:latin typeface="Consolas"/>
              </a:rPr>
              <a:t>RERANK SIGNALS COMBINED IN RRF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447" y="3749039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327" y="385876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semantic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327" y="41879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embedding similarity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98367" y="3749039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81247" y="385876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coverage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1247" y="41879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student-skill overlap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7287" y="3749039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0167" y="385876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query skill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167" y="41879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query-term overlap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76207" y="3749039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59087" y="385876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D6CDF"/>
                </a:solidFill>
                <a:latin typeface="Calibri"/>
              </a:rPr>
              <a:t>title / code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59087" y="41879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exact match boost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9377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074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WHY BM25 + VECTORS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3492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Calibri"/>
              </a:rPr>
              <a:t>BM25 protects exact skills (Kubernetes) and course codes (CSC 317).</a:t>
            </a:r>
          </a:p>
          <a:p>
            <a:pPr algn="l"/>
            <a:r>
              <a:rPr sz="1100" b="0" i="0">
                <a:solidFill>
                  <a:srgbClr val="0B1F3A"/>
                </a:solidFill>
                <a:latin typeface="Calibri"/>
              </a:rPr>
              <a:t>Vectors recover semantic matches the keywords miss.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937760"/>
            <a:ext cx="54406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9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5074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0E9F9E"/>
                </a:solidFill>
                <a:latin typeface="Consolas"/>
              </a:rPr>
              <a:t>WHY RRF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34924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1F3A"/>
                </a:solidFill>
                <a:latin typeface="Calibri"/>
              </a:rPr>
              <a:t>Rank-based fusion blends scores without retraining a reranker.</a:t>
            </a:r>
          </a:p>
          <a:p>
            <a:pPr algn="l"/>
            <a:r>
              <a:rPr sz="1100" b="0" i="0">
                <a:solidFill>
                  <a:srgbClr val="0B1F3A"/>
                </a:solidFill>
                <a:latin typeface="Calibri"/>
              </a:rPr>
              <a:t>Overlap signals add personalization on top of retrieval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The advisor is a LangGraph state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09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9507" y="169164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9507" y="1691640"/>
            <a:ext cx="178308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9507" y="185623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72587" y="2194560"/>
            <a:ext cx="274320" cy="0"/>
          </a:xfrm>
          <a:prstGeom prst="line">
            <a:avLst/>
          </a:prstGeom>
          <a:ln w="19050">
            <a:solidFill>
              <a:srgbClr val="7C3AE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46907" y="169164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E9F0FB"/>
          </a:solidFill>
          <a:ln w="1524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46907" y="1691640"/>
            <a:ext cx="1783080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6907" y="185623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plan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29987" y="2194560"/>
            <a:ext cx="274320" cy="0"/>
          </a:xfrm>
          <a:prstGeom prst="line">
            <a:avLst/>
          </a:prstGeom>
          <a:ln w="19050">
            <a:solidFill>
              <a:srgbClr val="2D6CD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04307" y="169164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04307" y="1691640"/>
            <a:ext cx="1783080" cy="73152"/>
          </a:xfrm>
          <a:prstGeom prst="rect">
            <a:avLst/>
          </a:prstGeom>
          <a:solidFill>
            <a:srgbClr val="174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4307" y="185623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search</a:t>
            </a:r>
          </a:p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jobs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87387" y="2194560"/>
            <a:ext cx="274320" cy="0"/>
          </a:xfrm>
          <a:prstGeom prst="line">
            <a:avLst/>
          </a:prstGeom>
          <a:ln w="19050">
            <a:solidFill>
              <a:srgbClr val="174B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61707" y="169164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1707" y="1691640"/>
            <a:ext cx="1783080" cy="73152"/>
          </a:xfrm>
          <a:prstGeom prst="rect">
            <a:avLst/>
          </a:prstGeom>
          <a:solidFill>
            <a:srgbClr val="174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1707" y="185623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search</a:t>
            </a:r>
          </a:p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courses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44787" y="2194560"/>
            <a:ext cx="274320" cy="0"/>
          </a:xfrm>
          <a:prstGeom prst="line">
            <a:avLst/>
          </a:prstGeom>
          <a:ln w="19050">
            <a:solidFill>
              <a:srgbClr val="174B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19107" y="169164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E9F0FB"/>
          </a:solidFill>
          <a:ln w="15240">
            <a:solidFill>
              <a:srgbClr val="0E9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19107" y="1691640"/>
            <a:ext cx="1783080" cy="73152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9107" y="185623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bundle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9507" y="365760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9507" y="3657600"/>
            <a:ext cx="1783080" cy="73152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9507" y="382219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views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72587" y="4160520"/>
            <a:ext cx="274320" cy="0"/>
          </a:xfrm>
          <a:prstGeom prst="line">
            <a:avLst/>
          </a:prstGeom>
          <a:ln w="19050">
            <a:solidFill>
              <a:srgbClr val="0E9F9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146907" y="365760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46907" y="3657600"/>
            <a:ext cx="17830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46907" y="382219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generate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29987" y="4160520"/>
            <a:ext cx="274320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204307" y="365760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E9F0FB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04307" y="3657600"/>
            <a:ext cx="178308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4307" y="382219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critique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87387" y="4160520"/>
            <a:ext cx="274320" cy="0"/>
          </a:xfrm>
          <a:prstGeom prst="line">
            <a:avLst/>
          </a:prstGeom>
          <a:ln w="19050">
            <a:solidFill>
              <a:srgbClr val="DC262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261707" y="365760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E9F0FB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61707" y="3657600"/>
            <a:ext cx="178308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1707" y="382219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refine?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44787" y="4160520"/>
            <a:ext cx="274320" cy="0"/>
          </a:xfrm>
          <a:prstGeom prst="line">
            <a:avLst/>
          </a:prstGeom>
          <a:ln w="19050">
            <a:solidFill>
              <a:srgbClr val="DC262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319107" y="3657600"/>
            <a:ext cx="1783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19107" y="3657600"/>
            <a:ext cx="178308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19107" y="3822192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B1F3A"/>
                </a:solidFill>
                <a:latin typeface="Calibri"/>
              </a:rPr>
              <a:t>select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102187" y="2171700"/>
            <a:ext cx="320040" cy="0"/>
          </a:xfrm>
          <a:prstGeom prst="line">
            <a:avLst/>
          </a:prstGeom>
          <a:ln w="22225">
            <a:solidFill>
              <a:srgbClr val="0E9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22227" y="2171700"/>
            <a:ext cx="0" cy="982980"/>
          </a:xfrm>
          <a:prstGeom prst="line">
            <a:avLst/>
          </a:prstGeom>
          <a:ln w="22225">
            <a:solidFill>
              <a:srgbClr val="0E9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69467" y="3154680"/>
            <a:ext cx="10652760" cy="0"/>
          </a:xfrm>
          <a:prstGeom prst="line">
            <a:avLst/>
          </a:prstGeom>
          <a:ln w="22225">
            <a:solidFill>
              <a:srgbClr val="0E9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9467" y="3154680"/>
            <a:ext cx="0" cy="982980"/>
          </a:xfrm>
          <a:prstGeom prst="line">
            <a:avLst/>
          </a:prstGeom>
          <a:ln w="22225">
            <a:solidFill>
              <a:srgbClr val="0E9F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9467" y="4137660"/>
            <a:ext cx="320040" cy="0"/>
          </a:xfrm>
          <a:prstGeom prst="line">
            <a:avLst/>
          </a:prstGeom>
          <a:ln w="22225">
            <a:solidFill>
              <a:srgbClr val="0E9F9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187787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E9F9E"/>
                </a:solidFill>
                <a:latin typeface="Consolas"/>
              </a:rPr>
              <a:t>graph loop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937760"/>
            <a:ext cx="11155680" cy="1234440"/>
          </a:xfrm>
          <a:prstGeom prst="roundRect">
            <a:avLst>
              <a:gd name="adj" fmla="val 4000"/>
            </a:avLst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074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STATEFUL 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Every node writes to AdvisorState.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6509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Retrieval hits, candidate bundles, critique scores, and the final response stay inspectable — any turn can be replayed and audited via LangSmith traces.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CANDIDATE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Three evidence frames compete for the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10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91440" cy="33832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SPECIFIC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Specific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2D6CDF"/>
                </a:solidFill>
                <a:latin typeface="Calibri"/>
              </a:rPr>
              <a:t>Does THIS role fit?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Pulls one strongest-matching job and computes a skill-gap matrix against the student's profile.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7200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D6CDF"/>
                </a:solidFill>
                <a:latin typeface="Calibri"/>
              </a:rPr>
              <a:t>single role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69164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691640"/>
            <a:ext cx="91440" cy="33832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87451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C3AED"/>
                </a:solidFill>
                <a:latin typeface="Consolas"/>
              </a:rPr>
              <a:t>JOB 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Job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7C3AED"/>
                </a:solidFill>
                <a:latin typeface="Calibri"/>
              </a:rPr>
              <a:t>What pattern is in the market?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Aggregates the top-k matches to expose recurring skills across similar postings.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457200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5720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  <a:latin typeface="Calibri"/>
              </a:rPr>
              <a:t>pattern across roles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69164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1691640"/>
            <a:ext cx="91440" cy="3383280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87451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0E9F9E"/>
                </a:solidFill>
                <a:latin typeface="Consolas"/>
              </a:rPr>
              <a:t>COURSE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Course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697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0E9F9E"/>
                </a:solidFill>
                <a:latin typeface="Calibri"/>
              </a:rPr>
              <a:t>How does the student close the gap?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2004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Maps uncovered skills to specific course codes the catalog actually offers.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457200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0E9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45720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E9F9E"/>
                </a:solidFill>
                <a:latin typeface="Calibri"/>
              </a:rPr>
              <a:t>gap → course 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349240"/>
            <a:ext cx="11155680" cy="868680"/>
          </a:xfrm>
          <a:prstGeom prst="roundRect">
            <a:avLst>
              <a:gd name="adj" fmla="val 4000"/>
            </a:avLst>
          </a:prstGeom>
          <a:solidFill>
            <a:srgbClr val="E9F0FB"/>
          </a:solidFill>
          <a:ln w="63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200">
                <a:solidFill>
                  <a:srgbClr val="2D6CDF"/>
                </a:solidFill>
                <a:latin typeface="Calibri"/>
              </a:rPr>
              <a:t>PARALLEL CANDIDATES → SCORED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C6B82"/>
                </a:solidFill>
                <a:latin typeface="Calibri"/>
              </a:rPr>
              <a:t>All three views are generated in parallel and ranked — the advisor picks the framing best supported by retrieved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SELF-RAG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Critique decides when to retrieve again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11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3787" y="18288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3787" y="1828800"/>
            <a:ext cx="214884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6667" y="20116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6667" y="26060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generated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candidate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2627" y="2514600"/>
            <a:ext cx="502920" cy="0"/>
          </a:xfrm>
          <a:prstGeom prst="line">
            <a:avLst/>
          </a:prstGeom>
          <a:ln w="22225">
            <a:solidFill>
              <a:srgbClr val="7C3AE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38347" y="224028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DC2626"/>
                </a:solidFill>
                <a:latin typeface="Consolas"/>
              </a:rP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95547" y="18288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9F0FB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5547" y="1828800"/>
            <a:ext cx="214884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8427" y="20116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support &lt; 6?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8427" y="26060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critic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threshold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44387" y="2514600"/>
            <a:ext cx="502920" cy="0"/>
          </a:xfrm>
          <a:prstGeom prst="line">
            <a:avLst/>
          </a:prstGeom>
          <a:ln w="22225">
            <a:solidFill>
              <a:srgbClr val="DC262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90107" y="224028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DC2626"/>
                </a:solidFill>
                <a:latin typeface="Consolas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7307" y="18288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7307" y="1828800"/>
            <a:ext cx="21488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0187" y="20116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uncovered</a:t>
            </a:r>
          </a:p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skills?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26060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gap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identified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96147" y="2514600"/>
            <a:ext cx="502920" cy="0"/>
          </a:xfrm>
          <a:prstGeom prst="line">
            <a:avLst/>
          </a:prstGeom>
          <a:ln w="22225">
            <a:solidFill>
              <a:srgbClr val="F59E0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41867" y="224028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DC2626"/>
                </a:solidFill>
                <a:latin typeface="Consolas"/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9067" y="18288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9F0FB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99067" y="1828800"/>
            <a:ext cx="21488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1947" y="201168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retrieve</a:t>
            </a:r>
          </a:p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courses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1947" y="260604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top-k = 3</a:t>
            </a:r>
          </a:p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targeted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657600"/>
            <a:ext cx="11155680" cy="914400"/>
          </a:xfrm>
          <a:prstGeom prst="roundRect">
            <a:avLst>
              <a:gd name="adj" fmla="val 4000"/>
            </a:avLst>
          </a:prstGeom>
          <a:solidFill>
            <a:srgbClr val="E9F7E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6A34A"/>
                </a:solidFill>
                <a:latin typeface="Consolas"/>
              </a:rPr>
              <a:t>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069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Exactly one refinement pass per turn — prevents infinite loops and cost blow-ups.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800600"/>
            <a:ext cx="5440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SCORING FORMULA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2303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onsolas"/>
              </a:rPr>
              <a:t>score  =  0.35·relevance  +  0.40·support  +  0.25·utility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5099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6B82"/>
                </a:solidFill>
                <a:latin typeface="Calibri"/>
              </a:rPr>
              <a:t>Support is weighted highest because grounding is the point — and it is what the critic re-checks before refining.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800600"/>
            <a:ext cx="5440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0E9F9E"/>
                </a:solidFill>
                <a:latin typeface="Consolas"/>
              </a:rPr>
              <a:t>TARGETED RE-QUERY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2303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1">
                <a:solidFill>
                  <a:srgbClr val="0B1F3A"/>
                </a:solidFill>
                <a:latin typeface="Calibri"/>
              </a:rPr>
              <a:t>“Courses that teach {top uncovered skills}.”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65099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6B82"/>
                </a:solidFill>
                <a:latin typeface="Calibri"/>
              </a:rPr>
              <a:t>New evidence is merged with the original bundle, then the generator runs once more on the fuller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Guardrails that keep the graph honest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12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91440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Planner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If the planner LLM returns malformed JSON we route to a safe default plan and log the parse error.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3736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91440" cy="20116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Selected-job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6888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If retrieval returns nothing for the focused job, the graph falls back to the cluster view instead of failing.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73736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737360"/>
            <a:ext cx="91440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Stale-hit warnings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6888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Vectors whose source row no longer exists in Supabase are flagged and excluded from grounding.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3192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31920"/>
            <a:ext cx="91440" cy="2011680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Direct-route shortcut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634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Greetings and meta-questions skip retrieval entirely — no need to spend tokens on “hi”.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93192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91440" cy="2011680"/>
          </a:xfrm>
          <a:prstGeom prst="rect">
            <a:avLst/>
          </a:prstGeom>
          <a:solidFill>
            <a:srgbClr val="174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LangSmith traces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6634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Every node, prompt, tool call, and critique score is captured for replay and debugging.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93192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3931920"/>
            <a:ext cx="91440" cy="2011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Structured status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66344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Each turn writes a one-line summary: plan · hits · support · refinement · latency.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EVALUATION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Four layers of testing, each isolating a concern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13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999" y="1691640"/>
            <a:ext cx="2697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999" y="1691640"/>
            <a:ext cx="2697480" cy="1097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599" y="1965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D6CD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" y="2468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C6B82"/>
                </a:solidFill>
                <a:latin typeface="Consolas"/>
              </a:rPr>
              <a:t>UNIT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599" y="27432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planner + retrieval + critique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599" y="33832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Pure-function checks on prompt builders, score fusion, skill-overlap math, critique JSON parsing.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6071" y="1691640"/>
            <a:ext cx="2697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6071" y="1691640"/>
            <a:ext cx="2697480" cy="109728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4671" y="1965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9F9E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4671" y="2468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C6B82"/>
                </a:solidFill>
                <a:latin typeface="Consolas"/>
              </a:rPr>
              <a:t>GOLD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4671" y="27432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30 canonical Qs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4671" y="33832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12 categories × 7 personas. Each Q has an expected behavior and an explicit pass criterion.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143" y="1691640"/>
            <a:ext cx="2697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8143" y="1691640"/>
            <a:ext cx="26974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6743" y="1965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743" y="2468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C6B82"/>
                </a:solidFill>
                <a:latin typeface="Consolas"/>
              </a:rPr>
              <a:t>CONVERSATION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6743" y="27432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10 multi-turn fixtures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6743" y="33832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Stress-tests stateful memory: pronouns, follow-ups, topic switches across turns.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0215" y="1691640"/>
            <a:ext cx="26974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0215" y="1691640"/>
            <a:ext cx="269748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8815" y="1965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8815" y="24688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C6B82"/>
                </a:solidFill>
                <a:latin typeface="Consolas"/>
              </a:rPr>
              <a:t>MODEL 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8815" y="274320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100 calls · 10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8815" y="338328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Generator is the only variable; planner and critic stay fixed (Llama 3.2 3B).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937760"/>
            <a:ext cx="11155680" cy="1280160"/>
          </a:xfrm>
          <a:prstGeom prst="roundRect">
            <a:avLst>
              <a:gd name="adj" fmla="val 4000"/>
            </a:avLst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074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THOUGHT PROCESS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Fix everything else — then change one variable, and only 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6692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Planner = Llama 3.2 3B and critic = Llama 3.2 3B across every model trial. Differences in score must come from the generator, not from a wandering scaffold.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GOLD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Anatomy of the 30-question evaluation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C6B82"/>
                </a:solidFill>
                <a:latin typeface="Consolas"/>
              </a:rPr>
              <a:t>QUESTIONS PER PERSONA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7510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Alex 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99339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Consolas"/>
              </a:rPr>
              <a:t>foundation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039112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2039112"/>
            <a:ext cx="219456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9751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5915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Maria Gomez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3774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Consolas"/>
              </a:rPr>
              <a:t>ML /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423160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2423160"/>
            <a:ext cx="1706880" cy="164592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3591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432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Sam Patel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276148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Consolas"/>
              </a:rPr>
              <a:t>beginner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807208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34640" y="2807208"/>
            <a:ext cx="1463040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7432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1272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Jordan Kim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1455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Consolas"/>
              </a:rPr>
              <a:t>full-stack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191256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3191256"/>
            <a:ext cx="4876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127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51129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Marcus Webb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352958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Consolas"/>
              </a:rPr>
              <a:t>cloud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575304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34640" y="3575304"/>
            <a:ext cx="4876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3511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89534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Taylor Reyes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39136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Consolas"/>
              </a:rPr>
              <a:t>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959352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34640" y="3959352"/>
            <a:ext cx="4876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38953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27939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Priya Sharma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42976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Consolas"/>
              </a:rPr>
              <a:t>bio-data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4343400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34640" y="4343400"/>
            <a:ext cx="4876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2793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32120" y="2011680"/>
            <a:ext cx="2377440" cy="2697480"/>
          </a:xfrm>
          <a:prstGeom prst="roundRect">
            <a:avLst>
              <a:gd name="adj" fmla="val 6000"/>
            </a:avLst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2120" y="219456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33375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F59E0B"/>
                </a:solidFill>
                <a:latin typeface="Consolas"/>
              </a:rPr>
              <a:t>CANONICAL</a:t>
            </a:r>
          </a:p>
          <a:p>
            <a:pPr algn="ctr"/>
            <a:r>
              <a:rPr sz="1100" b="1" i="0" spc="200">
                <a:solidFill>
                  <a:srgbClr val="F59E0B"/>
                </a:solidFill>
                <a:latin typeface="Consolas"/>
              </a:rPr>
              <a:t>QUESTIONS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20" y="40233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12 categories</a:t>
            </a:r>
          </a:p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7 personas</a:t>
            </a:r>
          </a:p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10 conversations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1645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C6B82"/>
                </a:solidFill>
                <a:latin typeface="Consolas"/>
              </a:rPr>
              <a:t>QUESTIONS PER CATEGORY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1975104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specific job fit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2039112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26880" y="2039112"/>
            <a:ext cx="50292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66376" y="1975104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235915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skill gap analysis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2423160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26880" y="2423160"/>
            <a:ext cx="50292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66376" y="2359152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27432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course rec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26880" y="2807208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26880" y="2807208"/>
            <a:ext cx="50292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66376" y="2743200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312724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career readiness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3191256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26880" y="3191256"/>
            <a:ext cx="50292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66376" y="3127248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351129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strong fit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6880" y="3575304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26880" y="3575304"/>
            <a:ext cx="50292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66376" y="351129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38160" y="3895344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gap + job ctx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3959352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26880" y="3959352"/>
            <a:ext cx="50292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66376" y="3895344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0" y="1975104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job comparison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247120" y="2039112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247120" y="2039112"/>
            <a:ext cx="3352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786616" y="1975104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0" y="235915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action plan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247120" y="2423160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247120" y="2423160"/>
            <a:ext cx="3352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786616" y="2359152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58400" y="27432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domain pivot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247120" y="2807208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247120" y="2807208"/>
            <a:ext cx="3352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786616" y="2743200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0" y="312724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self-assessment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247120" y="3191256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247120" y="3191256"/>
            <a:ext cx="3352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786616" y="3127248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58400" y="351129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cross-discipline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247120" y="3575304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247120" y="3575304"/>
            <a:ext cx="3352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786616" y="3511296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58400" y="3895344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retrieval precision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247120" y="3959352"/>
            <a:ext cx="50292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247120" y="3959352"/>
            <a:ext cx="335280" cy="16459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786616" y="3895344"/>
            <a:ext cx="228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2920" y="5029200"/>
            <a:ext cx="1115568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7240" y="5166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WHY THIS SHAPE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7240" y="5440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The set is intentionally lopsided — depth on the core, breadth on the edges.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724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Calibri"/>
              </a:rPr>
              <a:t>Alex, Maria, and Sam carry 22/30 questions because they exercise the deepest skill-gap and course paths. Jordan / Marcus / Taylor / Priya cover edge-case domains the advisor must not break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GOLD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Baseline run · 30 questions · one fixed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15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863" y="1691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863" y="1691640"/>
            <a:ext cx="54864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1743" y="18562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30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743" y="2532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6575" y="1691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6575" y="1691640"/>
            <a:ext cx="54864" cy="13716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9455" y="18562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7.93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9455" y="2532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AVG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4287" y="1691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4287" y="169164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7167" y="18562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48.2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7167" y="2532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AVG 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1999" y="1691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1999" y="1691640"/>
            <a:ext cx="54864" cy="1371600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4879" y="18562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10.0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2532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BEST  (GQ-08)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79711" y="169164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9711" y="1691640"/>
            <a:ext cx="54864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2591" y="1856232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1F3A"/>
                </a:solidFill>
                <a:latin typeface="Calibri"/>
              </a:rPr>
              <a:t>5.25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2591" y="25328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HARDEST (GQ-12)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33756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337560"/>
            <a:ext cx="54864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6A34A"/>
                </a:solidFill>
                <a:latin typeface="Consolas"/>
              </a:rPr>
              <a:t>STRONG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Course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60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D6CDF"/>
                </a:solidFill>
                <a:latin typeface="Consolas"/>
              </a:rPr>
              <a:t>GQ-07  9.10   ·   GQ-08  10.0   ·   GQ-09  8.20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48056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6B82"/>
                </a:solidFill>
                <a:latin typeface="Calibri"/>
              </a:rPr>
              <a:t>Catalog is small and well-structured — retrieval rarely misses,</a:t>
            </a:r>
          </a:p>
          <a:p>
            <a:pPr algn="l"/>
            <a:r>
              <a:rPr sz="1050" b="0" i="0">
                <a:solidFill>
                  <a:srgbClr val="5C6B82"/>
                </a:solidFill>
                <a:latin typeface="Calibri"/>
              </a:rPr>
              <a:t>and grounding becomes a tight code→skill mapping.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337560"/>
            <a:ext cx="54864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337560"/>
            <a:ext cx="548640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520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DC2626"/>
                </a:solidFill>
                <a:latin typeface="Consolas"/>
              </a:rPr>
              <a:t>WEAK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Broad readiness · retrieval precision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160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C2626"/>
                </a:solidFill>
                <a:latin typeface="Consolas"/>
              </a:rPr>
              <a:t>GQ-12  5.25   ·   GQ-30  6.10   ·   GQ-13  6.20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480560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6B82"/>
                </a:solidFill>
                <a:latin typeface="Calibri"/>
              </a:rPr>
              <a:t>Open-ended “am I ready” hedges instead of citing the strongest job;</a:t>
            </a:r>
          </a:p>
          <a:p>
            <a:pPr algn="l"/>
            <a:r>
              <a:rPr sz="1050" b="0" i="0">
                <a:solidFill>
                  <a:srgbClr val="5C6B82"/>
                </a:solidFill>
                <a:latin typeface="Calibri"/>
              </a:rPr>
              <a:t>narrow precision queries (“only Java?”) stress recall.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349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5C6B82"/>
                </a:solidFill>
                <a:latin typeface="Consolas"/>
              </a:rPr>
              <a:t>SCORE DISTRIBUTION  (n = 30)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623560"/>
            <a:ext cx="36118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760720"/>
            <a:ext cx="76200" cy="274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7790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&lt;6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57790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1 questions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80" y="5623560"/>
            <a:ext cx="36118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34840" y="5760720"/>
            <a:ext cx="99060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57790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6-8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57790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13 questions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5623560"/>
            <a:ext cx="36118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5760720"/>
            <a:ext cx="1219200" cy="274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57790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B1F3A"/>
                </a:solidFill>
                <a:latin typeface="Consolas"/>
              </a:rPr>
              <a:t>≥8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57790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16 questions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Generator leaderboard · 10 models · same scaffold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16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11155680" cy="411480"/>
          </a:xfrm>
          <a:prstGeom prst="roundRect">
            <a:avLst>
              <a:gd name="adj" fmla="val 4000"/>
            </a:avLst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00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PROV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0020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6002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60020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0020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160020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COST / 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03120"/>
            <a:ext cx="1115568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103120"/>
            <a:ext cx="73152" cy="3474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103120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  <a:latin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103120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Calibri"/>
              </a:rPr>
              <a:t>Qwen 2.5 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10312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OpenRouter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1031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7B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194560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194560"/>
            <a:ext cx="1883663" cy="1645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10312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0312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16.8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10312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$0.000245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487168"/>
            <a:ext cx="73152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487168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5C6B82"/>
                </a:solidFill>
                <a:latin typeface="Consola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2487168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Calibri"/>
              </a:rPr>
              <a:t>DeepSeek V3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2487168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OpenRouter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487168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578608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2578608"/>
            <a:ext cx="1536191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2487168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487168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34.2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248716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$0.001428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871215"/>
            <a:ext cx="1115568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2871215"/>
            <a:ext cx="73152" cy="347472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2871215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5C6B82"/>
                </a:solidFill>
                <a:latin typeface="Consola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2871215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0B1F3A"/>
                </a:solidFill>
                <a:latin typeface="Calibri"/>
              </a:rPr>
              <a:t>Llama 3.2 3B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2871215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OpenRouter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2871215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3B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962655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2962655"/>
            <a:ext cx="1426463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2871215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2871215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18.2 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2871215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$0.000067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3255263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1F3A"/>
                </a:solidFill>
                <a:latin typeface="Consola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255263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B1F3A"/>
                </a:solidFill>
                <a:latin typeface="Calibri"/>
              </a:rPr>
              <a:t>Gemma 3 4B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3255263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OpenRouter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3255263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4B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346703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3346703"/>
            <a:ext cx="137160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3255263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3255263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27.6 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3255263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$0.000135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3639311"/>
            <a:ext cx="1115568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3639311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1F3A"/>
                </a:solidFill>
                <a:latin typeface="Consolas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3639311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B1F3A"/>
                </a:solidFill>
                <a:latin typeface="Calibri"/>
              </a:rPr>
              <a:t>Llama 3.1 8B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43400" y="3639311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OpenRouter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0" y="3639311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8B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3730751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63640" y="3730751"/>
            <a:ext cx="1298448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49640" y="3639311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35440" y="3639311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26.8 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24160" y="3639311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$0.000246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4023360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1F3A"/>
                </a:solidFill>
                <a:latin typeface="Consolas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" y="4023360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B1F3A"/>
                </a:solidFill>
                <a:latin typeface="Calibri"/>
              </a:rPr>
              <a:t>GPT-OSS 120B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43400" y="402336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Fireworks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0" y="402336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120B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4114800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63640" y="4114800"/>
            <a:ext cx="1298448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49640" y="4023360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4023360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26.6 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24160" y="402336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$0.003970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407408"/>
            <a:ext cx="1115568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4407408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1F3A"/>
                </a:solidFill>
                <a:latin typeface="Consolas"/>
              </a:rP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5840" y="4407408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B1F3A"/>
                </a:solidFill>
                <a:latin typeface="Calibri"/>
              </a:rPr>
              <a:t>Qwen3 8B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43400" y="4407408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OpenRouter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0" y="4407408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8B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3640" y="4498848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263640" y="4498848"/>
            <a:ext cx="1243583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49640" y="4407408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0" y="4407408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48.8 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24160" y="4407408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$0.000131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4791456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1F3A"/>
                </a:solidFill>
                <a:latin typeface="Consolas"/>
              </a:rP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" y="4791456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B1F3A"/>
                </a:solidFill>
                <a:latin typeface="Calibri"/>
              </a:rPr>
              <a:t>Kimi K2.6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43400" y="4791456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Fireworks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0" y="4791456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63640" y="4882896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63640" y="4882896"/>
            <a:ext cx="1005840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49640" y="4791456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8.05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35440" y="4791456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27.3 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24160" y="4791456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$0.000621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5175504"/>
            <a:ext cx="11155680" cy="3474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" y="5175504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1F3A"/>
                </a:solidFill>
                <a:latin typeface="Consolas"/>
              </a:rPr>
              <a:t>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840" y="5175504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B1F3A"/>
                </a:solidFill>
                <a:latin typeface="Calibri"/>
              </a:rPr>
              <a:t>Mistral Nemo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43400" y="5175504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OpenRouter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0" y="5175504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12B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63640" y="5266944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63640" y="5266944"/>
            <a:ext cx="950975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49640" y="5175504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8.02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35440" y="5175504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17.5 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24160" y="5175504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$0.000163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2920" y="5559552"/>
            <a:ext cx="457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B1F3A"/>
                </a:solidFill>
                <a:latin typeface="Consolas"/>
              </a:rP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5840" y="5559552"/>
            <a:ext cx="3291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0B1F3A"/>
                </a:solidFill>
                <a:latin typeface="Calibri"/>
              </a:rPr>
              <a:t>DeepSeek R1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343400" y="5559552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alibri"/>
              </a:rPr>
              <a:t>OpenRouter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86400" y="55595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Consolas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63640" y="5650992"/>
            <a:ext cx="2194560" cy="16459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263640" y="5650992"/>
            <a:ext cx="896112" cy="16459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49640" y="5559552"/>
            <a:ext cx="640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  <a:latin typeface="Consolas"/>
              </a:rPr>
              <a:t>7.99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235440" y="5559552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17.4 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60" y="5559552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0B1F3A"/>
                </a:solidFill>
                <a:latin typeface="Consolas"/>
              </a:rPr>
              <a:t>$0.002849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13435" y="61264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13435" y="6126480"/>
            <a:ext cx="73152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2035" y="615391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6A34A"/>
                </a:solidFill>
                <a:latin typeface="Consolas"/>
              </a:rPr>
              <a:t>BEST AVERAGE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2035" y="6336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Qwen 2.5 7B  →  8.53 at low cost.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89907" y="61264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9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289907" y="6126480"/>
            <a:ext cx="73152" cy="457200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18507" y="615391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E9F9E"/>
                </a:solidFill>
                <a:latin typeface="Consolas"/>
              </a:rPr>
              <a:t>VALUE PICK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18507" y="6336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Llama 3.2 3B  →  cheapest, still 8.28.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066379" y="61264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066379" y="6126480"/>
            <a:ext cx="73152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294979" y="615391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DC2626"/>
                </a:solidFill>
                <a:latin typeface="Consolas"/>
              </a:rPr>
              <a:t>AVOID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94979" y="6336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B1F3A"/>
                </a:solidFill>
                <a:latin typeface="Calibri"/>
              </a:rPr>
              <a:t>DeepSeek R1  →  worst score, 42× cost.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Quality vs cost — picking the production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548640" cy="3657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JobSkill   ·   Production RAG System   ·   CSC-699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17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786384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280160" y="5074920"/>
            <a:ext cx="676656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96519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82"/>
                </a:solidFill>
                <a:latin typeface="Consolas"/>
              </a:rPr>
              <a:t>8.0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4617720"/>
            <a:ext cx="676656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50799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82"/>
                </a:solidFill>
                <a:latin typeface="Consolas"/>
              </a:rPr>
              <a:t>8.1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0160" y="4160520"/>
            <a:ext cx="676656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05079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82"/>
                </a:solidFill>
                <a:latin typeface="Consolas"/>
              </a:rPr>
              <a:t>8.2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3703319"/>
            <a:ext cx="676656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593591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82"/>
                </a:solidFill>
                <a:latin typeface="Consolas"/>
              </a:rPr>
              <a:t>8.3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" y="3246120"/>
            <a:ext cx="676656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13639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82"/>
                </a:solidFill>
                <a:latin typeface="Consolas"/>
              </a:rPr>
              <a:t>8.4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80160" y="2788920"/>
            <a:ext cx="676656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267919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82"/>
                </a:solidFill>
                <a:latin typeface="Consolas"/>
              </a:rPr>
              <a:t>8.5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80160" y="2331720"/>
            <a:ext cx="6766560" cy="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222199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82"/>
                </a:solidFill>
                <a:latin typeface="Consolas"/>
              </a:rPr>
              <a:t>8.6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98628" y="2103120"/>
            <a:ext cx="0" cy="342900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78588" y="55778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C6B82"/>
                </a:solidFill>
                <a:latin typeface="Consolas"/>
              </a:rPr>
              <a:t>$0.0001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63440" y="2103120"/>
            <a:ext cx="0" cy="342900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43400" y="55778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C6B82"/>
                </a:solidFill>
                <a:latin typeface="Consolas"/>
              </a:rPr>
              <a:t>$0.0005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81908" y="2103120"/>
            <a:ext cx="0" cy="342900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61868" y="55778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C6B82"/>
                </a:solidFill>
                <a:latin typeface="Consolas"/>
              </a:rPr>
              <a:t>$0.0010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46720" y="2103120"/>
            <a:ext cx="0" cy="3429000"/>
          </a:xfrm>
          <a:prstGeom prst="line">
            <a:avLst/>
          </a:prstGeom>
          <a:ln w="6350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26680" y="55778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C6B82"/>
                </a:solidFill>
                <a:latin typeface="Consolas"/>
              </a:rPr>
              <a:t>$0.0050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80160" y="2103120"/>
            <a:ext cx="0" cy="3429000"/>
          </a:xfrm>
          <a:prstGeom prst="line">
            <a:avLst/>
          </a:prstGeom>
          <a:ln w="9525">
            <a:solidFill>
              <a:srgbClr val="5C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80160" y="5532120"/>
            <a:ext cx="6766560" cy="0"/>
          </a:xfrm>
          <a:prstGeom prst="line">
            <a:avLst/>
          </a:prstGeom>
          <a:ln w="9525">
            <a:solidFill>
              <a:srgbClr val="5C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1874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5C6B82"/>
                </a:solidFill>
                <a:latin typeface="Consolas"/>
              </a:rPr>
              <a:t>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89788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00">
                <a:solidFill>
                  <a:srgbClr val="5C6B82"/>
                </a:solidFill>
                <a:latin typeface="Consolas"/>
              </a:rPr>
              <a:t>COST PER QUERY  ($, log scale)</a:t>
            </a:r>
          </a:p>
        </p:txBody>
      </p:sp>
      <p:sp>
        <p:nvSpPr>
          <p:cNvPr id="36" name="Oval 35"/>
          <p:cNvSpPr/>
          <p:nvPr/>
        </p:nvSpPr>
        <p:spPr>
          <a:xfrm>
            <a:off x="3487270" y="2523744"/>
            <a:ext cx="256032" cy="256032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79878" y="25328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Qwen 2.5 7B</a:t>
            </a:r>
          </a:p>
        </p:txBody>
      </p:sp>
      <p:sp>
        <p:nvSpPr>
          <p:cNvPr id="38" name="Oval 37"/>
          <p:cNvSpPr/>
          <p:nvPr/>
        </p:nvSpPr>
        <p:spPr>
          <a:xfrm>
            <a:off x="6123101" y="3438144"/>
            <a:ext cx="164592" cy="164592"/>
          </a:xfrm>
          <a:prstGeom prst="ellipse">
            <a:avLst/>
          </a:prstGeom>
          <a:solidFill>
            <a:srgbClr val="2D6CD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9989" y="34015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B1F3A"/>
                </a:solidFill>
                <a:latin typeface="Calibri"/>
              </a:rPr>
              <a:t>DeepSeek V3</a:t>
            </a:r>
          </a:p>
        </p:txBody>
      </p:sp>
      <p:sp>
        <p:nvSpPr>
          <p:cNvPr id="40" name="Oval 39"/>
          <p:cNvSpPr/>
          <p:nvPr/>
        </p:nvSpPr>
        <p:spPr>
          <a:xfrm>
            <a:off x="1582175" y="3666744"/>
            <a:ext cx="256032" cy="256032"/>
          </a:xfrm>
          <a:prstGeom prst="ellipse">
            <a:avLst/>
          </a:prstGeom>
          <a:solidFill>
            <a:srgbClr val="0E9F9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783" y="36758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Llama 3.2 3B</a:t>
            </a:r>
          </a:p>
        </p:txBody>
      </p:sp>
      <p:sp>
        <p:nvSpPr>
          <p:cNvPr id="42" name="Oval 41"/>
          <p:cNvSpPr/>
          <p:nvPr/>
        </p:nvSpPr>
        <p:spPr>
          <a:xfrm>
            <a:off x="2657288" y="3849624"/>
            <a:ext cx="164592" cy="164592"/>
          </a:xfrm>
          <a:prstGeom prst="ellipse">
            <a:avLst/>
          </a:prstGeom>
          <a:solidFill>
            <a:srgbClr val="2D6CD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04176" y="38130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B1F3A"/>
                </a:solidFill>
                <a:latin typeface="Calibri"/>
              </a:rPr>
              <a:t>Gemma 3 4B</a:t>
            </a:r>
          </a:p>
        </p:txBody>
      </p:sp>
      <p:sp>
        <p:nvSpPr>
          <p:cNvPr id="44" name="Oval 43"/>
          <p:cNvSpPr/>
          <p:nvPr/>
        </p:nvSpPr>
        <p:spPr>
          <a:xfrm>
            <a:off x="3538975" y="4032503"/>
            <a:ext cx="164592" cy="164592"/>
          </a:xfrm>
          <a:prstGeom prst="ellipse">
            <a:avLst/>
          </a:prstGeom>
          <a:solidFill>
            <a:srgbClr val="5C6B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863" y="399592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B1F3A"/>
                </a:solidFill>
                <a:latin typeface="Calibri"/>
              </a:rPr>
              <a:t>Llama 3.1 8B</a:t>
            </a:r>
          </a:p>
        </p:txBody>
      </p:sp>
      <p:sp>
        <p:nvSpPr>
          <p:cNvPr id="46" name="Oval 45"/>
          <p:cNvSpPr/>
          <p:nvPr/>
        </p:nvSpPr>
        <p:spPr>
          <a:xfrm>
            <a:off x="7625488" y="4032503"/>
            <a:ext cx="164592" cy="16459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72376" y="399592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B1F3A"/>
                </a:solidFill>
                <a:latin typeface="Calibri"/>
              </a:rPr>
              <a:t>GPT-OSS 120B</a:t>
            </a:r>
          </a:p>
        </p:txBody>
      </p:sp>
      <p:sp>
        <p:nvSpPr>
          <p:cNvPr id="48" name="Oval 47"/>
          <p:cNvSpPr/>
          <p:nvPr/>
        </p:nvSpPr>
        <p:spPr>
          <a:xfrm>
            <a:off x="2613094" y="4169664"/>
            <a:ext cx="164592" cy="164592"/>
          </a:xfrm>
          <a:prstGeom prst="ellipse">
            <a:avLst/>
          </a:prstGeom>
          <a:solidFill>
            <a:srgbClr val="5C6B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59982" y="41330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B1F3A"/>
                </a:solidFill>
                <a:latin typeface="Calibri"/>
              </a:rPr>
              <a:t>Qwen3 8B</a:t>
            </a:r>
          </a:p>
        </p:txBody>
      </p:sp>
      <p:sp>
        <p:nvSpPr>
          <p:cNvPr id="50" name="Oval 49"/>
          <p:cNvSpPr/>
          <p:nvPr/>
        </p:nvSpPr>
        <p:spPr>
          <a:xfrm>
            <a:off x="4899583" y="4764023"/>
            <a:ext cx="164592" cy="164592"/>
          </a:xfrm>
          <a:prstGeom prst="ellipse">
            <a:avLst/>
          </a:prstGeom>
          <a:solidFill>
            <a:srgbClr val="5C6B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6471" y="472744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B1F3A"/>
                </a:solidFill>
                <a:latin typeface="Calibri"/>
              </a:rPr>
              <a:t>Kimi K2.6</a:t>
            </a:r>
          </a:p>
        </p:txBody>
      </p:sp>
      <p:sp>
        <p:nvSpPr>
          <p:cNvPr id="52" name="Oval 51"/>
          <p:cNvSpPr/>
          <p:nvPr/>
        </p:nvSpPr>
        <p:spPr>
          <a:xfrm>
            <a:off x="2934222" y="4901184"/>
            <a:ext cx="164592" cy="164592"/>
          </a:xfrm>
          <a:prstGeom prst="ellipse">
            <a:avLst/>
          </a:prstGeom>
          <a:solidFill>
            <a:srgbClr val="5C6B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81110" y="486460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B1F3A"/>
                </a:solidFill>
                <a:latin typeface="Calibri"/>
              </a:rPr>
              <a:t>Mistral Nemo</a:t>
            </a:r>
          </a:p>
        </p:txBody>
      </p:sp>
      <p:sp>
        <p:nvSpPr>
          <p:cNvPr id="54" name="Oval 53"/>
          <p:cNvSpPr/>
          <p:nvPr/>
        </p:nvSpPr>
        <p:spPr>
          <a:xfrm>
            <a:off x="7092244" y="4992624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84852" y="50017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DeepSeek R1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03920" y="1691640"/>
            <a:ext cx="3246120" cy="4526280"/>
          </a:xfrm>
          <a:prstGeom prst="roundRect">
            <a:avLst>
              <a:gd name="adj" fmla="val 4000"/>
            </a:avLst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20" y="18288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PRODUCTION DECISION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21488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Two-track</a:t>
            </a:r>
          </a:p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32520" y="33832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1A2A52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34747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16A34A"/>
                </a:solidFill>
                <a:latin typeface="Consolas"/>
              </a:rPr>
              <a:t>ACCURACY-FIRST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3703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Qwen 2.5 7B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15400" y="41148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onsolas"/>
              </a:rPr>
              <a:t>8.53 avg  ·  16.8 s  ·  $0.00025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32520" y="461772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1A2A52"/>
          </a:solidFill>
          <a:ln w="12700">
            <a:solidFill>
              <a:srgbClr val="0E9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15400" y="47091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0E9F9E"/>
                </a:solidFill>
                <a:latin typeface="Consolas"/>
              </a:rPr>
              <a:t>COST-SENSITIVE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49377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Llama 3.2 3B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15400" y="5349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onsolas"/>
              </a:rPr>
              <a:t>8.28 avg  ·  18.2 s  ·  $0.00007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58521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  <a:latin typeface="Calibri"/>
              </a:rPr>
              <a:t>Bigger ≠ better — scaffolding mattered</a:t>
            </a:r>
          </a:p>
          <a:p>
            <a:pPr algn="l"/>
            <a:r>
              <a:rPr sz="1000" b="0" i="1">
                <a:solidFill>
                  <a:srgbClr val="F59E0B"/>
                </a:solidFill>
                <a:latin typeface="Calibri"/>
              </a:rPr>
              <a:t>more than raw model size.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5120640"/>
            <a:ext cx="2011680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0" y="5120640"/>
            <a:ext cx="2011680" cy="109728"/>
          </a:xfrm>
          <a:prstGeom prst="rect">
            <a:avLst/>
          </a:prstGeom>
          <a:solidFill>
            <a:srgbClr val="0B1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59E0B"/>
                </a:solidFill>
                <a:latin typeface="Consolas"/>
              </a:rPr>
              <a:t>CONCLUSIONS   ·   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Grounded career advice is an output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of the graph — not of any one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219456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6275" y="2788920"/>
            <a:ext cx="3703320" cy="3383280"/>
          </a:xfrm>
          <a:prstGeom prst="roundRect">
            <a:avLst>
              <a:gd name="adj" fmla="val 4000"/>
            </a:avLst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275" y="2788920"/>
            <a:ext cx="3703320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595" y="29718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2D6CDF"/>
                </a:solidFill>
                <a:latin typeface="Consolas"/>
              </a:rPr>
              <a:t>WHAT WE 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95" y="3337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Self-RAG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" y="359359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plan → retrieve → critique → refine →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" y="4050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Hybrid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95" y="4306824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BM25 + 768-d vectors  ·  α = 0.6  ·  RRF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95" y="476402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Multi-view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95" y="502005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specific job · job cluster · course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95" y="547725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100 % gold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95" y="5733288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30 / 30  ·  avg 7.93  ·  avg 48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4187" y="2788920"/>
            <a:ext cx="3703320" cy="3383280"/>
          </a:xfrm>
          <a:prstGeom prst="roundRect">
            <a:avLst>
              <a:gd name="adj" fmla="val 4000"/>
            </a:avLst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4187" y="2788920"/>
            <a:ext cx="37033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8507" y="29718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59E0B"/>
                </a:solidFill>
                <a:latin typeface="Consolas"/>
              </a:rPr>
              <a:t>WHAT WE LEARNED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8507" y="3337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Bigger ≠ better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8507" y="359359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Qwen 2.5 7B beats GPT-OSS 120B at 16× lower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8507" y="4050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Reasoning hurts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8507" y="4306824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DeepSeek R1 last (7.99) at 42× the value pick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8507" y="476402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Critique earns retries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8507" y="502005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1 refinement pass closes most weak 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8507" y="547725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Two stores beat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8507" y="5733288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Postgres truth + Weaviate index = clean grounding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2099" y="2788920"/>
            <a:ext cx="3703320" cy="3383280"/>
          </a:xfrm>
          <a:prstGeom prst="roundRect">
            <a:avLst>
              <a:gd name="adj" fmla="val 4000"/>
            </a:avLst>
          </a:prstGeom>
          <a:solidFill>
            <a:srgbClr val="1A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2099" y="2788920"/>
            <a:ext cx="3703320" cy="73152"/>
          </a:xfrm>
          <a:prstGeom prst="rect">
            <a:avLst/>
          </a:prstGeom>
          <a:solidFill>
            <a:srgbClr val="0E9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6419" y="297180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0E9F9E"/>
                </a:solidFill>
                <a:latin typeface="Consolas"/>
              </a:rPr>
              <a:t>WHAT IS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419" y="3337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Tighter prose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6419" y="359359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kill hedging on broad readiness questions (GQ-12)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6419" y="4050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Precision recall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6419" y="4306824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improve GQ-30-style narrow filter queries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6419" y="476402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Auto-personas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6419" y="5020056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expand evaluation beyond the seven seed students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6419" y="547725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Online 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6419" y="5733288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ship user-rating capture in the advisor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Thank you   ·   Yuvraj Gupta   ·   CSC-699   · 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